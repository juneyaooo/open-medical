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f555c1b3f14ffb" /><Relationship Type="http://schemas.openxmlformats.org/officeDocument/2006/relationships/extended-properties" Target="/docProps/app.xml" Id="R2a389c60a85b42df" /><Relationship Type="http://schemas.openxmlformats.org/officeDocument/2006/relationships/officeDocument" Target="/ppt/presentation.xml" Id="R84a5cc021aff42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70884327f4c20"/>
  </p:sldMasterIdLst>
  <p:notesMasterIdLst>
    <p:notesMasterId xmlns:r="http://schemas.openxmlformats.org/officeDocument/2006/relationships" r:id="Rbe6ec5c35eea451f"/>
  </p:notesMasterIdLst>
  <p:sldIdLst>
    <p:sldId xmlns:r="http://schemas.openxmlformats.org/officeDocument/2006/relationships" id="256" r:id="R602e499f58c44fdb"/>
    <p:sldId xmlns:r="http://schemas.openxmlformats.org/officeDocument/2006/relationships" id="257" r:id="R0bb09756a39844af"/>
    <p:sldId xmlns:r="http://schemas.openxmlformats.org/officeDocument/2006/relationships" id="258" r:id="R48e1934ce9404be1"/>
    <p:sldId xmlns:r="http://schemas.openxmlformats.org/officeDocument/2006/relationships" id="259" r:id="R204a40d973094729"/>
    <p:sldId xmlns:r="http://schemas.openxmlformats.org/officeDocument/2006/relationships" id="260" r:id="R670e50051b134331"/>
    <p:sldId xmlns:r="http://schemas.openxmlformats.org/officeDocument/2006/relationships" id="261" r:id="R6e2fed1e4c2746bd"/>
    <p:sldId xmlns:r="http://schemas.openxmlformats.org/officeDocument/2006/relationships" id="262" r:id="Rf71fa42c841944d5"/>
    <p:sldId xmlns:r="http://schemas.openxmlformats.org/officeDocument/2006/relationships" id="263" r:id="R0b10df6098d74644"/>
    <p:sldId xmlns:r="http://schemas.openxmlformats.org/officeDocument/2006/relationships" id="264" r:id="R614f30db8b714bcf"/>
    <p:sldId xmlns:r="http://schemas.openxmlformats.org/officeDocument/2006/relationships" id="265" r:id="R43cfc34486c34238"/>
    <p:sldId xmlns:r="http://schemas.openxmlformats.org/officeDocument/2006/relationships" id="266" r:id="Raabf630e888e4e34"/>
    <p:sldId xmlns:r="http://schemas.openxmlformats.org/officeDocument/2006/relationships" id="267" r:id="R1d0f4311daeb48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74ef9f420740c5" /><Relationship Type="http://schemas.openxmlformats.org/officeDocument/2006/relationships/slideMaster" Target="/ppt/slideMasters/slideMaster1.xml" Id="Rc9c70884327f4c20" /><Relationship Type="http://schemas.openxmlformats.org/officeDocument/2006/relationships/notesMaster" Target="/ppt/notesMasters/notesMaster1.xml" Id="Rbe6ec5c35eea451f" /><Relationship Type="http://schemas.openxmlformats.org/officeDocument/2006/relationships/presProps" Target="/ppt/presProps.xml" Id="R364e07cb7e15422c" /><Relationship Type="http://schemas.openxmlformats.org/officeDocument/2006/relationships/tableStyles" Target="/ppt/tableStyles.xml" Id="R6e8c2873dcf84181" /><Relationship Type="http://schemas.openxmlformats.org/officeDocument/2006/relationships/slide" Target="/ppt/slides/slide1.xml" Id="R602e499f58c44fdb" /><Relationship Type="http://schemas.openxmlformats.org/officeDocument/2006/relationships/slide" Target="/ppt/slides/slide2.xml" Id="R0bb09756a39844af" /><Relationship Type="http://schemas.openxmlformats.org/officeDocument/2006/relationships/slide" Target="/ppt/slides/slide3.xml" Id="R48e1934ce9404be1" /><Relationship Type="http://schemas.openxmlformats.org/officeDocument/2006/relationships/slide" Target="/ppt/slides/slide4.xml" Id="R204a40d973094729" /><Relationship Type="http://schemas.openxmlformats.org/officeDocument/2006/relationships/slide" Target="/ppt/slides/slide5.xml" Id="R670e50051b134331" /><Relationship Type="http://schemas.openxmlformats.org/officeDocument/2006/relationships/slide" Target="/ppt/slides/slide6.xml" Id="R6e2fed1e4c2746bd" /><Relationship Type="http://schemas.openxmlformats.org/officeDocument/2006/relationships/slide" Target="/ppt/slides/slide7.xml" Id="Rf71fa42c841944d5" /><Relationship Type="http://schemas.openxmlformats.org/officeDocument/2006/relationships/slide" Target="/ppt/slides/slide8.xml" Id="R0b10df6098d74644" /><Relationship Type="http://schemas.openxmlformats.org/officeDocument/2006/relationships/slide" Target="/ppt/slides/slide9.xml" Id="R614f30db8b714bcf" /><Relationship Type="http://schemas.openxmlformats.org/officeDocument/2006/relationships/slide" Target="/ppt/slides/slide10.xml" Id="R43cfc34486c34238" /><Relationship Type="http://schemas.openxmlformats.org/officeDocument/2006/relationships/slide" Target="/ppt/slides/slide11.xml" Id="Raabf630e888e4e34" /><Relationship Type="http://schemas.openxmlformats.org/officeDocument/2006/relationships/slide" Target="/ppt/slides/slide12.xml" Id="R1d0f4311daeb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d080df14fb4b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b9fe4c8f94342" /><Relationship Type="http://schemas.openxmlformats.org/officeDocument/2006/relationships/notesMaster" Target="/ppt/notesMasters/notesMaster1.xml" Id="R6a07d039f051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58066c1624d4d" /><Relationship Type="http://schemas.openxmlformats.org/officeDocument/2006/relationships/notesMaster" Target="/ppt/notesMasters/notesMaster1.xml" Id="R591c787c48a141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9e9db1e0fb4386" /><Relationship Type="http://schemas.openxmlformats.org/officeDocument/2006/relationships/notesMaster" Target="/ppt/notesMasters/notesMaster1.xml" Id="R0e111a34681a42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f44d19cdd54e4c" /><Relationship Type="http://schemas.openxmlformats.org/officeDocument/2006/relationships/notesMaster" Target="/ppt/notesMasters/notesMaster1.xml" Id="Rf4782bc06f4f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f4d588b9a34fdb" /><Relationship Type="http://schemas.openxmlformats.org/officeDocument/2006/relationships/notesMaster" Target="/ppt/notesMasters/notesMaster1.xml" Id="Rcb4bd674626d4b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6a8b7a25af4cd0" /><Relationship Type="http://schemas.openxmlformats.org/officeDocument/2006/relationships/notesMaster" Target="/ppt/notesMasters/notesMaster1.xml" Id="R0560fabd018c43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a449650dcb406a" /><Relationship Type="http://schemas.openxmlformats.org/officeDocument/2006/relationships/notesMaster" Target="/ppt/notesMasters/notesMaster1.xml" Id="R050b8cf52124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f8f1f28b74498f" /><Relationship Type="http://schemas.openxmlformats.org/officeDocument/2006/relationships/notesMaster" Target="/ppt/notesMasters/notesMaster1.xml" Id="Re626e59cc20249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72be20572f4072" /><Relationship Type="http://schemas.openxmlformats.org/officeDocument/2006/relationships/notesMaster" Target="/ppt/notesMasters/notesMaster1.xml" Id="Rc4d50a07c25446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e9c028467a48c7" /><Relationship Type="http://schemas.openxmlformats.org/officeDocument/2006/relationships/notesMaster" Target="/ppt/notesMasters/notesMaster1.xml" Id="R544d76551e1244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9bfb27d2ce4e54" /><Relationship Type="http://schemas.openxmlformats.org/officeDocument/2006/relationships/notesMaster" Target="/ppt/notesMasters/notesMaster1.xml" Id="Ra2cd0cebffa44a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71c4ef7c724940" /><Relationship Type="http://schemas.openxmlformats.org/officeDocument/2006/relationships/notesMaster" Target="/ppt/notesMasters/notesMaster1.xml" Id="R7eea2aeb756d40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Medical 是一个在本地运行的医学智能小助手。它围绕医生的日常积累展开：患者的状态持续更新，知识和案例留下来，确认过的工作偏好也留下来。希望下一次工作时，助手能沿着已有积累继续配合医生。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我们把焦点放在持续发生的工作上。再次见到一位患者时，需要接着之前的记录了解变化。再次遇到一个问题时，希望找回自己核对过的资料和案例。Open Medical 的产品方向，就是帮助医生保留并复用这些上下文。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三块能力放在一起，才形成持续使用的价值。患者管理保存事实与进展，知识和案例库保存可回看的积累，医生记忆保存个人工作偏好。它们共同为后续任务提供上下文。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项目来源：README.md；docs/DOCTOR_WORKBENCH_GUIDE.md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患者健康档案把诊断、用药、检验和就诊经过放在同一个位置。材料整理和档案提案保留来源，医生核对重要更新后再写入。画面来自项目演示资料。AI 产物用于辅助整理，仍需医生复核。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项目来源：README.md#患者管理闭环；docs/DOCTOR_WORKBENCH_GUIDE.md；output/playwright/desktop-promo-20261013/local-assistant/screenshots/overview.png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随访不仅是一个日期。项目支持查看到期随访、待处理事项，并在收到结果之后记录核对和处理情况，再安排下一次跟进。这里展示的是检查与转诊跟进记录，可以看到待处理状态和已有处理记录。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项目来源：README.md#患者管理闭环；output/playwright/desktop-promo-20261013/screenshots/10-followup.png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知识库可以按用途组织，例如门诊模板或某一方向的参考资料。除了导入和检索，项目也支持记录来源、版本、核对状态和下次复核日期。资料更容易找回，使用时也知道它来自哪里。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项目来源：README.md；output/playwright/desktop-promo-20261013/local-assistant/screenshots/knowledge.png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案例库保存病例快照和处理结果，也提供关键词检索与相似病例检索。它让医生有机会回看过去是怎么记录、怎么跟进的。相似病例仅供参考，具体判断仍需要结合当前患者。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项目来源：README.md；output/playwright/desktop-promo-20261013/local-assistant/screenshots/cases.png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这里的记忆是可查看和管理的工作偏好。例如要求整理病历保留来源，或将随访记录按固定结构整理。对话提出的记忆需要确认，确认之后才供后续任务使用。用户也可以直接保存、忽略或删除偏好。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项目来源：README.md；output/playwright/desktop-promo-20261013/local-assistant/screenshots/memory.png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越用越好用的基础，是下一次任务能够复用已有的资料、案例和经过确认的偏好。更贴合工作的程度仍取决于资料质量和模型能力，并不代表使用过程会自动训练模型。我们希望通过真实任务持续验证这份积累是否有帮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本地运行指工作台和数据在本机组织与保存。模型连接可选择本地 Ollama 或外部 API。调用外部模型时，相应输入会传给所配置的服务，所以不能把本地工作台理解成所有模型请求都不会联网。项目的临床有效性尚未验证，AI 输出需要医生复核。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项目来源：README.md#配置模型；docs/DESKTOP.md；output/playwright/desktop-promo-20261013/local-assistant/screenshots/local-model.png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次开放的共建邀请。医生可以带来真实场景和去标识化示例，帮助判断功能是否有用。开发者可以参与现有模块，产品和设计贡献者可以改善操作流程，测试与文档贡献者可以帮助更多人顺利开始。这里列出的是希望共同推进的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项目来源：README.md；LICENSE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欢迎访问仓库，先尝试一个自己的日常场景。可以在 Issue 中描述预期流程和遇到的问题，也可以提交改进代码、文档或测试。分享示例前请去除患者身份信息。期待一起把这个本地小助手做得更贴近医生的工作。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项目来源：https://github.com/JuneYaooo/open-medical-workbench；LICENSE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17b22661fe44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3c5741b5b46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8a04e86624f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bc590c307b43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fc50856b934b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ff60e607a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257FD-F870-48F1-9782-BAD9CECF0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951EBB-C834-4788-93B1-DCB60719C7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6DC320-D542-43C8-A42F-B3CF6CF106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ABD9E4-DC2C-41DD-ABC5-2B385689F9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B68594-89BB-44FF-B2AB-DE74F77C8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E29E3C-30B6-4F79-966D-1E4EF2B19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37A84F-A2EE-4EE1-8C6F-171B46C19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B17BA6-70D6-4C39-8500-8FAB56ADC5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93E00-08C8-4698-9A8E-CE9B3164D9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3F20B7-255F-4A64-8199-FEC4476965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27f8c3a27d4a9e" /><Relationship Type="http://schemas.openxmlformats.org/officeDocument/2006/relationships/slideLayout" Target="/ppt/slideLayouts/slideLayout1.xml" Id="R4dc06e4a26334cb5" /><Relationship Type="http://schemas.openxmlformats.org/officeDocument/2006/relationships/slideLayout" Target="/ppt/slideLayouts/slideLayout2.xml" Id="R28ba88093658498d" /><Relationship Type="http://schemas.openxmlformats.org/officeDocument/2006/relationships/slideLayout" Target="/ppt/slideLayouts/slideLayout3.xml" Id="R11bc34c90162488c" /><Relationship Type="http://schemas.openxmlformats.org/officeDocument/2006/relationships/slideLayout" Target="/ppt/slideLayouts/slideLayout4.xml" Id="R6c3f554c7c3148ce" /><Relationship Type="http://schemas.openxmlformats.org/officeDocument/2006/relationships/slideLayout" Target="/ppt/slideLayouts/slideLayout5.xml" Id="R8abd5bca1726423a" /><Relationship Type="http://schemas.openxmlformats.org/officeDocument/2006/relationships/slideLayout" Target="/ppt/slideLayouts/slideLayout6.xml" Id="R84fc1f59aeb044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c06e4a26334cb5"/>
    <p:sldLayoutId xmlns:r="http://schemas.openxmlformats.org/officeDocument/2006/relationships" id="2147483650" r:id="R28ba88093658498d"/>
    <p:sldLayoutId xmlns:r="http://schemas.openxmlformats.org/officeDocument/2006/relationships" id="2147483651" r:id="R11bc34c90162488c"/>
    <p:sldLayoutId xmlns:r="http://schemas.openxmlformats.org/officeDocument/2006/relationships" id="2147483652" r:id="R6c3f554c7c3148ce"/>
    <p:sldLayoutId xmlns:r="http://schemas.openxmlformats.org/officeDocument/2006/relationships" id="2147483653" r:id="R8abd5bca1726423a"/>
    <p:sldLayoutId xmlns:r="http://schemas.openxmlformats.org/officeDocument/2006/relationships" id="2147483654" r:id="R84fc1f59aeb044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8f05bad6a4ce9" /><Relationship Type="http://schemas.openxmlformats.org/officeDocument/2006/relationships/notesSlide" Target="/ppt/notesSlides/notesSlide1.xml" Id="Rf912225964b7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7aa2d95d1431f" /><Relationship Type="http://schemas.openxmlformats.org/officeDocument/2006/relationships/notesSlide" Target="/ppt/notesSlides/notesSlide2.xml" Id="Rc95aaa6517174c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c0e9260184aa7" /><Relationship Type="http://schemas.openxmlformats.org/officeDocument/2006/relationships/notesSlide" Target="/ppt/notesSlides/notesSlide3.xml" Id="Rde6f620607e943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029a796954ed0" /><Relationship Type="http://schemas.openxmlformats.org/officeDocument/2006/relationships/image" Target="/ppt/media/image.png" Id="R14e4e21f7b3a48ec" /><Relationship Type="http://schemas.openxmlformats.org/officeDocument/2006/relationships/notesSlide" Target="/ppt/notesSlides/notesSlide4.xml" Id="R2abc11c716bc4b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4a2d0839f4e88" /><Relationship Type="http://schemas.openxmlformats.org/officeDocument/2006/relationships/image" Target="/ppt/media/image2.png" Id="R4b37e288177a40c0" /><Relationship Type="http://schemas.openxmlformats.org/officeDocument/2006/relationships/notesSlide" Target="/ppt/notesSlides/notesSlide5.xml" Id="R7afd29ff24ed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a18e8efa445db" /><Relationship Type="http://schemas.openxmlformats.org/officeDocument/2006/relationships/image" Target="/ppt/media/image3.png" Id="R643d2056d7944058" /><Relationship Type="http://schemas.openxmlformats.org/officeDocument/2006/relationships/notesSlide" Target="/ppt/notesSlides/notesSlide6.xml" Id="Re719c1f53a31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b357443504725" /><Relationship Type="http://schemas.openxmlformats.org/officeDocument/2006/relationships/image" Target="/ppt/media/image4.png" Id="Rdc9b3e0b77d64f8b" /><Relationship Type="http://schemas.openxmlformats.org/officeDocument/2006/relationships/notesSlide" Target="/ppt/notesSlides/notesSlide7.xml" Id="R375e5c2b80e743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6b45927a154182" /><Relationship Type="http://schemas.openxmlformats.org/officeDocument/2006/relationships/image" Target="/ppt/media/image5.png" Id="R36be68ab74144d06" /><Relationship Type="http://schemas.openxmlformats.org/officeDocument/2006/relationships/notesSlide" Target="/ppt/notesSlides/notesSlide8.xml" Id="R59f6d1a7bd5a4a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0ad37abd534a95" /><Relationship Type="http://schemas.openxmlformats.org/officeDocument/2006/relationships/notesSlide" Target="/ppt/notesSlides/notesSlide9.xml" Id="Rba3718d6c28a43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54d70aed94204" /><Relationship Type="http://schemas.openxmlformats.org/officeDocument/2006/relationships/image" Target="/ppt/media/image6.png" Id="R58e3d037cd354678" /><Relationship Type="http://schemas.openxmlformats.org/officeDocument/2006/relationships/notesSlide" Target="/ppt/notesSlides/notesSlide10.xml" Id="Rf5445c49525346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b8aa2ad0945aa" /><Relationship Type="http://schemas.openxmlformats.org/officeDocument/2006/relationships/notesSlide" Target="/ppt/notesSlides/notesSlide11.xml" Id="Rf6bd6a9a803743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0427792214ac1" /><Relationship Type="http://schemas.openxmlformats.org/officeDocument/2006/relationships/hyperlink" Target="https://github.com/JuneYaooo/open-medical-workbench" TargetMode="External" Id="R568c8a9a0d71478d" /><Relationship Type="http://schemas.openxmlformats.org/officeDocument/2006/relationships/hyperlink" Target="https://github.com/JuneYaooo/open-medical-workbench" TargetMode="External" Id="R1f77beee8f9340b5" /><Relationship Type="http://schemas.openxmlformats.org/officeDocument/2006/relationships/image" Target="/ppt/media/image7.png" Id="Rdcc45b266fc94472" /><Relationship Type="http://schemas.openxmlformats.org/officeDocument/2006/relationships/notesSlide" Target="/ppt/notesSlides/notesSlide12.xml" Id="R471d3033351c49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DA7B5997-4369-4B39-94B4-457F5E1B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EB47300E-BC85-43B1-9B76-B86D2EF6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本地医学智能小助手">
            <a:extLst xmlns:a="http://schemas.openxmlformats.org/drawingml/2006/main">
              <a:ext uri="{FF2B5EF4-FFF2-40B4-BE49-F238E27FC236}">
                <a16:creationId xmlns:a16="http://schemas.microsoft.com/office/drawing/2014/main" id="{D8D3786B-BA19-4B72-8B05-E1E5EF26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本地医学智能小助手</a:t>
            </a:r>
          </a:p>
        </p:txBody>
      </p:sp>
      <p:sp>
        <p:nvSpPr>
          <p:cNvPr id="4" name="越用，越懂医生">
            <a:extLst xmlns:a="http://schemas.openxmlformats.org/drawingml/2006/main">
              <a:ext uri="{FF2B5EF4-FFF2-40B4-BE49-F238E27FC236}">
                <a16:creationId xmlns:a16="http://schemas.microsoft.com/office/drawing/2014/main" id="{3FE0745B-FF5C-4AD6-AFBF-B2B8F94F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645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越用，越懂医生</a:t>
            </a:r>
          </a:p>
        </p:txBody>
      </p:sp>
      <p:sp>
        <p:nvSpPr>
          <p:cNvPr id="5" name="患者档案与随访，知识与案例，自己的工作记忆">
            <a:extLst xmlns:a="http://schemas.openxmlformats.org/drawingml/2006/main">
              <a:ext uri="{FF2B5EF4-FFF2-40B4-BE49-F238E27FC236}">
                <a16:creationId xmlns:a16="http://schemas.microsoft.com/office/drawing/2014/main" id="{1826FBE9-60DC-4DCE-8788-1DDD5CEB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患者档案与随访，知识与案例，自己的工作记忆</a:t>
            </a:r>
          </a:p>
        </p:txBody>
      </p:sp>
      <p:sp>
        <p:nvSpPr>
          <p:cNvPr id="6" name="开源项目介绍与共建邀请">
            <a:extLst xmlns:a="http://schemas.openxmlformats.org/drawingml/2006/main">
              <a:ext uri="{FF2B5EF4-FFF2-40B4-BE49-F238E27FC236}">
                <a16:creationId xmlns:a16="http://schemas.microsoft.com/office/drawing/2014/main" id="{A59440BE-6F39-42ED-B26D-80E8CAF0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开源项目介绍与共建邀请</a:t>
            </a:r>
          </a:p>
        </p:txBody>
      </p:sp>
    </p:spTree>
    <p:extLst>
      <p:ext uri="{BB962C8B-B14F-4D97-AF65-F5344CB8AC3E}">
        <p14:creationId xmlns:p14="http://schemas.microsoft.com/office/powerpoint/2010/main" val="237123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E6FE780A-45B6-44E9-8C18-E8E2EA7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D1927151-FF7A-4957-A986-CAE40501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医生的工作，需要持续积累">
            <a:extLst xmlns:a="http://schemas.openxmlformats.org/drawingml/2006/main">
              <a:ext uri="{FF2B5EF4-FFF2-40B4-BE49-F238E27FC236}">
                <a16:creationId xmlns:a16="http://schemas.microsoft.com/office/drawing/2014/main" id="{BB32CE50-8968-4BB9-A796-745A2D59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医生的工作，需要持续积累</a:t>
            </a:r>
          </a:p>
        </p:txBody>
      </p:sp>
      <p:sp>
        <p:nvSpPr>
          <p:cNvPr id="4" name="一位患者的下一次复诊&#10;往往接着上一次的记录">
            <a:extLst xmlns:a="http://schemas.openxmlformats.org/drawingml/2006/main">
              <a:ext uri="{FF2B5EF4-FFF2-40B4-BE49-F238E27FC236}">
                <a16:creationId xmlns:a16="http://schemas.microsoft.com/office/drawing/2014/main" id="{E19AFF8F-ADEB-41E3-9256-431FBCF7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一位患者的下一次复诊</a:t>
            </a:r>
          </a:p>
          <a:p xmlns:a="http://schemas.openxmlformats.org/drawingml/2006/main">
            <a:pPr>
              <a:defRPr sz="31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往往接着上一次的记录</a:t>
            </a:r>
          </a:p>
        </p:txBody>
      </p:sp>
      <p:sp>
        <p:nvSpPr>
          <p:cNvPr id="5" name="助手的价值，也应该随着这些记录增加。">
            <a:extLst xmlns:a="http://schemas.openxmlformats.org/drawingml/2006/main">
              <a:ext uri="{FF2B5EF4-FFF2-40B4-BE49-F238E27FC236}">
                <a16:creationId xmlns:a16="http://schemas.microsoft.com/office/drawing/2014/main" id="{12DFDF69-67B4-4AF2-BEDD-0AD3F506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434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助手的价值，也应该随着这些记录增加。</a:t>
            </a:r>
          </a:p>
        </p:txBody>
      </p:sp>
      <p:sp>
        <p:nvSpPr>
          <p:cNvPr id="6" name="患者的变化">
            <a:extLst xmlns:a="http://schemas.openxmlformats.org/drawingml/2006/main">
              <a:ext uri="{FF2B5EF4-FFF2-40B4-BE49-F238E27FC236}">
                <a16:creationId xmlns:a16="http://schemas.microsoft.com/office/drawing/2014/main" id="{8C222C74-FD1E-41AB-AF59-EF248173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患者的变化</a:t>
            </a:r>
          </a:p>
        </p:txBody>
      </p:sp>
      <p:sp>
        <p:nvSpPr>
          <p:cNvPr id="7" name="上次记录、最新检查、还没完成的随访">
            <a:extLst xmlns:a="http://schemas.openxmlformats.org/drawingml/2006/main">
              <a:ext uri="{FF2B5EF4-FFF2-40B4-BE49-F238E27FC236}">
                <a16:creationId xmlns:a16="http://schemas.microsoft.com/office/drawing/2014/main" id="{2C7E089C-3912-4799-B26F-BA5BA4D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上次记录、最新检查、还没完成的随访</a:t>
            </a:r>
          </a:p>
        </p:txBody>
      </p:sp>
      <p:sp>
        <p:nvSpPr>
          <p:cNvPr id="8" name="医生的经验">
            <a:extLst xmlns:a="http://schemas.openxmlformats.org/drawingml/2006/main">
              <a:ext uri="{FF2B5EF4-FFF2-40B4-BE49-F238E27FC236}">
                <a16:creationId xmlns:a16="http://schemas.microsoft.com/office/drawing/2014/main" id="{88DD5589-D1C9-47AD-AE4F-BB92316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7192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医生的经验</a:t>
            </a:r>
          </a:p>
        </p:txBody>
      </p:sp>
      <p:sp>
        <p:nvSpPr>
          <p:cNvPr id="9" name="常用资料、类似案例、确认过的工作习惯">
            <a:extLst xmlns:a="http://schemas.openxmlformats.org/drawingml/2006/main">
              <a:ext uri="{FF2B5EF4-FFF2-40B4-BE49-F238E27FC236}">
                <a16:creationId xmlns:a16="http://schemas.microsoft.com/office/drawing/2014/main" id="{467DD913-54DF-460E-AA8F-9BBD9F30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95800"/>
            <a:ext cx="4619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常用资料、类似案例、确认过的工作习惯</a:t>
            </a:r>
          </a:p>
        </p:txBody>
      </p:sp>
    </p:spTree>
    <p:extLst>
      <p:ext uri="{BB962C8B-B14F-4D97-AF65-F5344CB8AC3E}">
        <p14:creationId xmlns:p14="http://schemas.microsoft.com/office/powerpoint/2010/main" val="15052065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BBB1939F-0424-464F-9E2D-9427B66B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87BA356E-5D3C-4B1D-A747-FB11A9A4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围绕医生的三类日常工作">
            <a:extLst xmlns:a="http://schemas.openxmlformats.org/drawingml/2006/main">
              <a:ext uri="{FF2B5EF4-FFF2-40B4-BE49-F238E27FC236}">
                <a16:creationId xmlns:a16="http://schemas.microsoft.com/office/drawing/2014/main" id="{D667A933-FA4C-4104-8EF6-674D69F9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围绕医生的三类日常工作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769F786-1870-4368-AEC1-D037581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33625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5" name="管理患者">
            <a:extLst xmlns:a="http://schemas.openxmlformats.org/drawingml/2006/main">
              <a:ext uri="{FF2B5EF4-FFF2-40B4-BE49-F238E27FC236}">
                <a16:creationId xmlns:a16="http://schemas.microsoft.com/office/drawing/2014/main" id="{FC2C2E41-F732-4C51-A86F-5CFBEC86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622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管理患者</a:t>
            </a:r>
          </a:p>
        </p:txBody>
      </p:sp>
      <p:sp>
        <p:nvSpPr>
          <p:cNvPr id="6" name="本地健康档案、患者状态、随访提醒">
            <a:extLst xmlns:a="http://schemas.openxmlformats.org/drawingml/2006/main">
              <a:ext uri="{FF2B5EF4-FFF2-40B4-BE49-F238E27FC236}">
                <a16:creationId xmlns:a16="http://schemas.microsoft.com/office/drawing/2014/main" id="{3B48DB17-1493-4B27-A0C2-0E524E29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1935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本地健康档案、患者状态、随访提醒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584712A4-4041-4492-8551-C7CDBFF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4250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8" name="积累知识与案例">
            <a:extLst xmlns:a="http://schemas.openxmlformats.org/drawingml/2006/main">
              <a:ext uri="{FF2B5EF4-FFF2-40B4-BE49-F238E27FC236}">
                <a16:creationId xmlns:a16="http://schemas.microsoft.com/office/drawing/2014/main" id="{A70EE53F-4A98-4DCF-87F6-B9215A9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528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积累知识与案例</a:t>
            </a:r>
          </a:p>
        </p:txBody>
      </p:sp>
      <p:sp>
        <p:nvSpPr>
          <p:cNvPr id="9" name="常用资料有出处，病例经验可回查">
            <a:extLst xmlns:a="http://schemas.openxmlformats.org/drawingml/2006/main">
              <a:ext uri="{FF2B5EF4-FFF2-40B4-BE49-F238E27FC236}">
                <a16:creationId xmlns:a16="http://schemas.microsoft.com/office/drawing/2014/main" id="{52D9973D-4EEA-4D2B-ABAD-2D7BDFD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609975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常用资料有出处，病例经验可回查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48016F10-8F04-4787-8DD8-5491DD65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1000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1" name="形成自己的助手">
            <a:extLst xmlns:a="http://schemas.openxmlformats.org/drawingml/2006/main">
              <a:ext uri="{FF2B5EF4-FFF2-40B4-BE49-F238E27FC236}">
                <a16:creationId xmlns:a16="http://schemas.microsoft.com/office/drawing/2014/main" id="{218477F4-5817-4221-8049-47C6452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434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形成自己的助手</a:t>
            </a:r>
          </a:p>
        </p:txBody>
      </p:sp>
      <p:sp>
        <p:nvSpPr>
          <p:cNvPr id="12" name="保存已确认的偏好，供后续任务复用">
            <a:extLst xmlns:a="http://schemas.openxmlformats.org/drawingml/2006/main">
              <a:ext uri="{FF2B5EF4-FFF2-40B4-BE49-F238E27FC236}">
                <a16:creationId xmlns:a16="http://schemas.microsoft.com/office/drawing/2014/main" id="{3B7E26C4-5BAC-4928-981A-D13E446D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006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保存已确认的偏好，供后续任务复用</a:t>
            </a:r>
          </a:p>
        </p:txBody>
      </p:sp>
    </p:spTree>
    <p:extLst>
      <p:ext uri="{BB962C8B-B14F-4D97-AF65-F5344CB8AC3E}">
        <p14:creationId xmlns:p14="http://schemas.microsoft.com/office/powerpoint/2010/main" val="11002455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78F8C2EF-BCA9-4B6B-A426-C7AAB825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39247019-D492-49DE-9F8B-D947E058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患者健康档案">
            <a:extLst xmlns:a="http://schemas.openxmlformats.org/drawingml/2006/main">
              <a:ext uri="{FF2B5EF4-FFF2-40B4-BE49-F238E27FC236}">
                <a16:creationId xmlns:a16="http://schemas.microsoft.com/office/drawing/2014/main" id="{561BC8F3-047A-4E00-8AD4-77CD1F63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患者健康档案</a:t>
            </a:r>
          </a:p>
        </p:txBody>
      </p:sp>
      <p:sp>
        <p:nvSpPr>
          <p:cNvPr id="4" name="围绕同一位患者，接上每一次资料更新">
            <a:extLst xmlns:a="http://schemas.openxmlformats.org/drawingml/2006/main">
              <a:ext uri="{FF2B5EF4-FFF2-40B4-BE49-F238E27FC236}">
                <a16:creationId xmlns:a16="http://schemas.microsoft.com/office/drawing/2014/main" id="{60331018-1643-4AF0-B3C1-4FC159A9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围绕同一位患者，接上每一次资料更新</a:t>
            </a:r>
          </a:p>
        </p:txBody>
      </p:sp>
      <p:sp>
        <p:nvSpPr>
          <p:cNvPr id="5" name="资料归到人">
            <a:extLst xmlns:a="http://schemas.openxmlformats.org/drawingml/2006/main">
              <a:ext uri="{FF2B5EF4-FFF2-40B4-BE49-F238E27FC236}">
                <a16:creationId xmlns:a16="http://schemas.microsoft.com/office/drawing/2014/main" id="{DC6F6CC7-7FF8-497D-9D40-849DE9A2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812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资料归到人</a:t>
            </a:r>
          </a:p>
        </p:txBody>
      </p:sp>
      <p:sp>
        <p:nvSpPr>
          <p:cNvPr id="6" name="病史、用药、检验与&#10;就诊经过集中查看">
            <a:extLst xmlns:a="http://schemas.openxmlformats.org/drawingml/2006/main">
              <a:ext uri="{FF2B5EF4-FFF2-40B4-BE49-F238E27FC236}">
                <a16:creationId xmlns:a16="http://schemas.microsoft.com/office/drawing/2014/main" id="{1CD7497A-EBF3-4B47-B926-F1984EA7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病史、用药、检验与</a:t>
            </a:r>
          </a:p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就诊经过集中查看</a:t>
            </a:r>
          </a:p>
        </p:txBody>
      </p:sp>
      <p:sp>
        <p:nvSpPr>
          <p:cNvPr id="7" name="重要更新先复核">
            <a:extLst xmlns:a="http://schemas.openxmlformats.org/drawingml/2006/main">
              <a:ext uri="{FF2B5EF4-FFF2-40B4-BE49-F238E27FC236}">
                <a16:creationId xmlns:a16="http://schemas.microsoft.com/office/drawing/2014/main" id="{67EF406A-84F9-469A-94E2-40F6F09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重要更新先复核</a:t>
            </a:r>
          </a:p>
        </p:txBody>
      </p:sp>
      <p:sp>
        <p:nvSpPr>
          <p:cNvPr id="8" name="核对来源和修改内容&#10;确认后写入档案">
            <a:extLst xmlns:a="http://schemas.openxmlformats.org/drawingml/2006/main">
              <a:ext uri="{FF2B5EF4-FFF2-40B4-BE49-F238E27FC236}">
                <a16:creationId xmlns:a16="http://schemas.microsoft.com/office/drawing/2014/main" id="{D6517375-5AD5-4F60-B954-3324B06F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3238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核对来源和修改内容</a:t>
            </a:r>
          </a:p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确认后写入档案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93204-4329-41C5-A3F6-87D2B0EAC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4e21f7b3a48ec"/>
          <a:srcRect xmlns:a="http://schemas.openxmlformats.org/drawingml/2006/main" l="15250" t="24700" r="1812" b="4500"/>
          <a:stretch xmlns:a="http://schemas.openxmlformats.org/drawingml/2006/main"/>
        </p:blipFill>
        <p:spPr>
          <a:xfrm xmlns:a="http://schemas.openxmlformats.org/drawingml/2006/main">
            <a:off x="4048125" y="2190750"/>
            <a:ext cx="7572375" cy="4038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160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FB0E22DA-CE92-4915-B382-78358FA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CE969225-82A3-49D4-AAEC-B0C37583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患者状态与随访">
            <a:extLst xmlns:a="http://schemas.openxmlformats.org/drawingml/2006/main">
              <a:ext uri="{FF2B5EF4-FFF2-40B4-BE49-F238E27FC236}">
                <a16:creationId xmlns:a16="http://schemas.microsoft.com/office/drawing/2014/main" id="{1157FD5C-F438-41BA-92BF-636A045C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患者状态与随访</a:t>
            </a:r>
          </a:p>
        </p:txBody>
      </p:sp>
      <p:sp>
        <p:nvSpPr>
          <p:cNvPr id="4" name="知道哪些事还没结束，也留下每一次跟进的结果">
            <a:extLst xmlns:a="http://schemas.openxmlformats.org/drawingml/2006/main">
              <a:ext uri="{FF2B5EF4-FFF2-40B4-BE49-F238E27FC236}">
                <a16:creationId xmlns:a16="http://schemas.microsoft.com/office/drawing/2014/main" id="{4CEEE412-1C34-451C-A00F-2650C30B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知道哪些事还没结束，也留下每一次跟进的结果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BC024-EA68-4F78-866B-BF5976B1E5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7e288177a40c0"/>
          <a:srcRect xmlns:a="http://schemas.openxmlformats.org/drawingml/2006/main" l="15125" t="27200" r="1750" b="12400"/>
          <a:stretch xmlns:a="http://schemas.openxmlformats.org/drawingml/2006/main"/>
        </p:blipFill>
        <p:spPr>
          <a:xfrm xmlns:a="http://schemas.openxmlformats.org/drawingml/2006/main">
            <a:off x="600075" y="2352675"/>
            <a:ext cx="7848600" cy="3562350"/>
          </a:xfrm>
          <a:prstGeom xmlns:a="http://schemas.openxmlformats.org/drawingml/2006/main" prst="rect">
            <a:avLst/>
          </a:prstGeom>
        </p:spPr>
      </p:pic>
      <p:sp>
        <p:nvSpPr>
          <p:cNvPr id="6" name="安排下一次">
            <a:extLst xmlns:a="http://schemas.openxmlformats.org/drawingml/2006/main">
              <a:ext uri="{FF2B5EF4-FFF2-40B4-BE49-F238E27FC236}">
                <a16:creationId xmlns:a16="http://schemas.microsoft.com/office/drawing/2014/main" id="{8F589D37-25E6-4501-A1E2-E096D625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1460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安排下一次</a:t>
            </a:r>
          </a:p>
        </p:txBody>
      </p:sp>
      <p:sp>
        <p:nvSpPr>
          <p:cNvPr id="7" name="设置随访计划&#10;到期进入待办提醒">
            <a:extLst xmlns:a="http://schemas.openxmlformats.org/drawingml/2006/main">
              <a:ext uri="{FF2B5EF4-FFF2-40B4-BE49-F238E27FC236}">
                <a16:creationId xmlns:a16="http://schemas.microsoft.com/office/drawing/2014/main" id="{6BDDC535-7E60-458F-BCB3-5B5C896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38475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设置随访计划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到期进入待办提醒</a:t>
            </a:r>
          </a:p>
        </p:txBody>
      </p:sp>
      <p:sp>
        <p:nvSpPr>
          <p:cNvPr id="8" name="接上这一次">
            <a:extLst xmlns:a="http://schemas.openxmlformats.org/drawingml/2006/main">
              <a:ext uri="{FF2B5EF4-FFF2-40B4-BE49-F238E27FC236}">
                <a16:creationId xmlns:a16="http://schemas.microsoft.com/office/drawing/2014/main" id="{954697AF-BD7B-4F32-9710-DEA5BD0F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100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接上这一次</a:t>
            </a:r>
          </a:p>
        </p:txBody>
      </p:sp>
      <p:sp>
        <p:nvSpPr>
          <p:cNvPr id="9" name="登记结果与处理情况&#10;继续安排后续跟进">
            <a:extLst xmlns:a="http://schemas.openxmlformats.org/drawingml/2006/main">
              <a:ext uri="{FF2B5EF4-FFF2-40B4-BE49-F238E27FC236}">
                <a16:creationId xmlns:a16="http://schemas.microsoft.com/office/drawing/2014/main" id="{0921353D-2347-410F-A60F-30475E9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33950"/>
            <a:ext cx="2905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登记结果与处理情况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继续安排后续跟进</a:t>
            </a:r>
          </a:p>
        </p:txBody>
      </p:sp>
    </p:spTree>
    <p:extLst>
      <p:ext uri="{BB962C8B-B14F-4D97-AF65-F5344CB8AC3E}">
        <p14:creationId xmlns:p14="http://schemas.microsoft.com/office/powerpoint/2010/main" val="618172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49CD85DD-E7B1-458E-93AD-A765C54D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4F7AA2E9-6384-4595-9FCD-F381CF94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3" name="自己的本地知识库">
            <a:extLst xmlns:a="http://schemas.openxmlformats.org/drawingml/2006/main">
              <a:ext uri="{FF2B5EF4-FFF2-40B4-BE49-F238E27FC236}">
                <a16:creationId xmlns:a16="http://schemas.microsoft.com/office/drawing/2014/main" id="{1407C782-E719-4375-9873-23465517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自己的本地知识库</a:t>
            </a:r>
          </a:p>
        </p:txBody>
      </p:sp>
      <p:sp>
        <p:nvSpPr>
          <p:cNvPr id="4" name="把常用资料留在手边">
            <a:extLst xmlns:a="http://schemas.openxmlformats.org/drawingml/2006/main">
              <a:ext uri="{FF2B5EF4-FFF2-40B4-BE49-F238E27FC236}">
                <a16:creationId xmlns:a16="http://schemas.microsoft.com/office/drawing/2014/main" id="{211B6EFA-003B-43AC-A3A1-C4B69D35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09825"/>
            <a:ext cx="6715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把常用资料留在手边</a:t>
            </a:r>
          </a:p>
        </p:txBody>
      </p:sp>
      <p:sp>
        <p:nvSpPr>
          <p:cNvPr id="5" name="按用途建立知识库&#10;整理参考资料、模板和经验笔记">
            <a:extLst xmlns:a="http://schemas.openxmlformats.org/drawingml/2006/main">
              <a:ext uri="{FF2B5EF4-FFF2-40B4-BE49-F238E27FC236}">
                <a16:creationId xmlns:a16="http://schemas.microsoft.com/office/drawing/2014/main" id="{E64F09EE-794D-4E6C-B9D7-F2F18FE0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6762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按用途建立知识库</a:t>
            </a:r>
          </a:p>
          <a:p xmlns:a="http://schemas.openxmlformats.org/drawingml/2006/main">
            <a: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整理参考资料、模板和经验笔记</a:t>
            </a:r>
          </a:p>
        </p:txBody>
      </p:sp>
      <p:sp>
        <p:nvSpPr>
          <p:cNvPr id="6" name="保留出处，管理版本">
            <a:extLst xmlns:a="http://schemas.openxmlformats.org/drawingml/2006/main">
              <a:ext uri="{FF2B5EF4-FFF2-40B4-BE49-F238E27FC236}">
                <a16:creationId xmlns:a16="http://schemas.microsoft.com/office/drawing/2014/main" id="{ECF6E332-3F12-454F-B6F6-4F8BBAFC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保留出处，管理版本</a:t>
            </a:r>
          </a:p>
        </p:txBody>
      </p:sp>
      <p:sp>
        <p:nvSpPr>
          <p:cNvPr id="7" name="检索之后，还能回到来源核对">
            <a:extLst xmlns:a="http://schemas.openxmlformats.org/drawingml/2006/main">
              <a:ext uri="{FF2B5EF4-FFF2-40B4-BE49-F238E27FC236}">
                <a16:creationId xmlns:a16="http://schemas.microsoft.com/office/drawing/2014/main" id="{D49742EF-13F3-4D27-BE2A-741EBCB9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检索之后，还能回到来源核对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8A873-39FA-451D-85AF-650D164877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3d2056d7944058"/>
          <a:srcRect xmlns:a="http://schemas.openxmlformats.org/drawingml/2006/main" l="34375" t="7500" r="34375" b="8000"/>
          <a:stretch xmlns:a="http://schemas.openxmlformats.org/drawingml/2006/main"/>
        </p:blipFill>
        <p:spPr>
          <a:xfrm xmlns:a="http://schemas.openxmlformats.org/drawingml/2006/main">
            <a:off x="8058150" y="1438275"/>
            <a:ext cx="3133725" cy="5286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21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9428CBDE-3AC2-45CF-BC6B-74BFBDF9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BB074BE8-CEC1-4558-A9AA-2511610F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3" name="患者案例，留作下一次参考">
            <a:extLst xmlns:a="http://schemas.openxmlformats.org/drawingml/2006/main">
              <a:ext uri="{FF2B5EF4-FFF2-40B4-BE49-F238E27FC236}">
                <a16:creationId xmlns:a16="http://schemas.microsoft.com/office/drawing/2014/main" id="{296E04CB-5B84-40E5-B023-1A1710A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患者案例，留作下一次参考</a:t>
            </a:r>
          </a:p>
        </p:txBody>
      </p:sp>
      <p:sp>
        <p:nvSpPr>
          <p:cNvPr id="4" name="把处理经过留下来">
            <a:extLst xmlns:a="http://schemas.openxmlformats.org/drawingml/2006/main">
              <a:ext uri="{FF2B5EF4-FFF2-40B4-BE49-F238E27FC236}">
                <a16:creationId xmlns:a16="http://schemas.microsoft.com/office/drawing/2014/main" id="{08C614CF-505A-4BC7-B27A-EB4B82D6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把处理经过留下来</a:t>
            </a:r>
          </a:p>
        </p:txBody>
      </p:sp>
      <p:sp>
        <p:nvSpPr>
          <p:cNvPr id="5" name="病例要点与随访结果&#10;可以收入本地案例库">
            <a:extLst xmlns:a="http://schemas.openxmlformats.org/drawingml/2006/main">
              <a:ext uri="{FF2B5EF4-FFF2-40B4-BE49-F238E27FC236}">
                <a16:creationId xmlns:a16="http://schemas.microsoft.com/office/drawing/2014/main" id="{01B2E4D3-6AB0-48E0-81E3-B561AE3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4953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病例要点与随访结果</a:t>
            </a:r>
          </a:p>
          <a:p xmlns:a="http://schemas.openxmlformats.org/drawingml/2006/main">
            <a:pPr>
              <a:def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可以收入本地案例库</a:t>
            </a:r>
          </a:p>
        </p:txBody>
      </p:sp>
      <p:sp>
        <p:nvSpPr>
          <p:cNvPr id="6" name="遇到相似问题时&#10;检索相关案例，回看当时的记录">
            <a:extLst xmlns:a="http://schemas.openxmlformats.org/drawingml/2006/main">
              <a:ext uri="{FF2B5EF4-FFF2-40B4-BE49-F238E27FC236}">
                <a16:creationId xmlns:a16="http://schemas.microsoft.com/office/drawing/2014/main" id="{3DB1FD03-9933-41CB-B5F4-12A50D0A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遇到相似问题时</a:t>
            </a:r>
          </a:p>
          <a:p xmlns:a="http://schemas.openxmlformats.org/drawingml/2006/main">
            <a:pPr>
              <a:defRPr sz="202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检索相关案例，回看当时的记录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5E543-6DB9-4096-B502-4B94F0F30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b3e0b77d64f8b"/>
          <a:srcRect xmlns:a="http://schemas.openxmlformats.org/drawingml/2006/main" l="31813" t="17400" r="18313" b="16900"/>
          <a:stretch xmlns:a="http://schemas.openxmlformats.org/drawingml/2006/main"/>
        </p:blipFill>
        <p:spPr>
          <a:xfrm xmlns:a="http://schemas.openxmlformats.org/drawingml/2006/main">
            <a:off x="6419850" y="1885950"/>
            <a:ext cx="5057775" cy="4171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13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C2686FCC-01F8-4BF0-8C2C-094ED8C3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96C7025-5B55-48FF-A328-E5FDD4D9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3" name="越用越懂你的工作方式">
            <a:extLst xmlns:a="http://schemas.openxmlformats.org/drawingml/2006/main">
              <a:ext uri="{FF2B5EF4-FFF2-40B4-BE49-F238E27FC236}">
                <a16:creationId xmlns:a16="http://schemas.microsoft.com/office/drawing/2014/main" id="{46FA83DB-3826-4326-9EE8-061C36E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越用越懂你的工作方式</a:t>
            </a:r>
          </a:p>
        </p:txBody>
      </p:sp>
      <p:sp>
        <p:nvSpPr>
          <p:cNvPr id="4" name="你确认过的偏好&#10;下次继续用">
            <a:extLst xmlns:a="http://schemas.openxmlformats.org/drawingml/2006/main">
              <a:ext uri="{FF2B5EF4-FFF2-40B4-BE49-F238E27FC236}">
                <a16:creationId xmlns:a16="http://schemas.microsoft.com/office/drawing/2014/main" id="{8788826F-0A19-496C-953D-934F8E70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62225"/>
            <a:ext cx="3857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你确认过的偏好</a:t>
            </a:r>
          </a:p>
          <a:p xmlns:a="http://schemas.openxmlformats.org/drawingml/2006/main">
            <a:pPr>
              <a:def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下次继续用</a:t>
            </a:r>
          </a:p>
        </p:txBody>
      </p:sp>
      <p:sp>
        <p:nvSpPr>
          <p:cNvPr id="5" name="例如：整理病历时保留出处&#10;把缺失信息单独列出">
            <a:extLst xmlns:a="http://schemas.openxmlformats.org/drawingml/2006/main">
              <a:ext uri="{FF2B5EF4-FFF2-40B4-BE49-F238E27FC236}">
                <a16:creationId xmlns:a16="http://schemas.microsoft.com/office/drawing/2014/main" id="{7EE81AF3-09D8-4281-83AB-90241B31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3943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例如：整理病历时保留出处</a:t>
            </a:r>
          </a:p>
          <a:p xmlns:a="http://schemas.openxmlformats.org/drawingml/2006/main">
            <a:pPr>
              <a:def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把缺失信息单独列出</a:t>
            </a:r>
          </a:p>
        </p:txBody>
      </p:sp>
      <p:sp>
        <p:nvSpPr>
          <p:cNvPr id="6" name="记忆可以查看、确认和删除">
            <a:extLst xmlns:a="http://schemas.openxmlformats.org/drawingml/2006/main">
              <a:ext uri="{FF2B5EF4-FFF2-40B4-BE49-F238E27FC236}">
                <a16:creationId xmlns:a16="http://schemas.microsoft.com/office/drawing/2014/main" id="{02D30E15-322E-4DD2-8EC2-D8DC13F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记忆可以查看、确认和删除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81FD2-2895-4191-8DF7-C003F70C8A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e68ab74144d06"/>
          <a:srcRect xmlns:a="http://schemas.openxmlformats.org/drawingml/2006/main" l="26250" t="22500" r="26250" b="22500"/>
          <a:stretch xmlns:a="http://schemas.openxmlformats.org/drawingml/2006/main"/>
        </p:blipFill>
        <p:spPr>
          <a:xfrm xmlns:a="http://schemas.openxmlformats.org/drawingml/2006/main">
            <a:off x="5248275" y="2076450"/>
            <a:ext cx="6248400" cy="452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587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7BF54A42-D665-4B79-969D-3565FE60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10D7769E-C52B-460A-ACDE-FED12019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3" name="积累如何让下一次更顺手">
            <a:extLst xmlns:a="http://schemas.openxmlformats.org/drawingml/2006/main">
              <a:ext uri="{FF2B5EF4-FFF2-40B4-BE49-F238E27FC236}">
                <a16:creationId xmlns:a16="http://schemas.microsoft.com/office/drawing/2014/main" id="{16910059-5A42-4F74-BD19-D3CB9393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积累如何让下一次更顺手</a:t>
            </a:r>
          </a:p>
        </p:txBody>
      </p:sp>
      <p:sp>
        <p:nvSpPr>
          <p:cNvPr id="4" name="第一次">
            <a:extLst xmlns:a="http://schemas.openxmlformats.org/drawingml/2006/main">
              <a:ext uri="{FF2B5EF4-FFF2-40B4-BE49-F238E27FC236}">
                <a16:creationId xmlns:a16="http://schemas.microsoft.com/office/drawing/2014/main" id="{87421EEB-209C-42DC-AB5D-76D71A2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第一次</a:t>
            </a:r>
          </a:p>
        </p:txBody>
      </p:sp>
      <p:sp>
        <p:nvSpPr>
          <p:cNvPr id="5" name="整理资料，核对来源，留下患者记录">
            <a:extLst xmlns:a="http://schemas.openxmlformats.org/drawingml/2006/main">
              <a:ext uri="{FF2B5EF4-FFF2-40B4-BE49-F238E27FC236}">
                <a16:creationId xmlns:a16="http://schemas.microsoft.com/office/drawing/2014/main" id="{3D649007-EFA1-4E84-8A20-FFE03AA3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907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整理资料，核对来源，留下患者记录</a:t>
            </a:r>
          </a:p>
        </p:txBody>
      </p:sp>
      <p:sp>
        <p:nvSpPr>
          <p:cNvPr id="6" name="持续使用">
            <a:extLst xmlns:a="http://schemas.openxmlformats.org/drawingml/2006/main">
              <a:ext uri="{FF2B5EF4-FFF2-40B4-BE49-F238E27FC236}">
                <a16:creationId xmlns:a16="http://schemas.microsoft.com/office/drawing/2014/main" id="{5CA0B159-FBD2-45D1-A7BD-3675FD34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持续使用</a:t>
            </a:r>
          </a:p>
        </p:txBody>
      </p:sp>
      <p:sp>
        <p:nvSpPr>
          <p:cNvPr id="7" name="保存常用知识、患者案例和工作偏好">
            <a:extLst xmlns:a="http://schemas.openxmlformats.org/drawingml/2006/main">
              <a:ext uri="{FF2B5EF4-FFF2-40B4-BE49-F238E27FC236}">
                <a16:creationId xmlns:a16="http://schemas.microsoft.com/office/drawing/2014/main" id="{C0DE4897-A4BA-4E07-A54E-9BF26572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67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保存常用知识、患者案例和工作偏好</a:t>
            </a:r>
          </a:p>
        </p:txBody>
      </p:sp>
      <p:sp>
        <p:nvSpPr>
          <p:cNvPr id="8" name="下一次">
            <a:extLst xmlns:a="http://schemas.openxmlformats.org/drawingml/2006/main">
              <a:ext uri="{FF2B5EF4-FFF2-40B4-BE49-F238E27FC236}">
                <a16:creationId xmlns:a16="http://schemas.microsoft.com/office/drawing/2014/main" id="{C65F1B2C-E9ED-49B2-8B72-D0508720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下一次</a:t>
            </a:r>
          </a:p>
        </p:txBody>
      </p:sp>
      <p:sp>
        <p:nvSpPr>
          <p:cNvPr id="9" name="带着相关资料与偏好，继续配合医生">
            <a:extLst xmlns:a="http://schemas.openxmlformats.org/drawingml/2006/main">
              <a:ext uri="{FF2B5EF4-FFF2-40B4-BE49-F238E27FC236}">
                <a16:creationId xmlns:a16="http://schemas.microsoft.com/office/drawing/2014/main" id="{9BB1EEBA-1618-4108-83EA-071F32E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4342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带着相关资料与偏好，继续配合医生</a:t>
            </a:r>
          </a:p>
        </p:txBody>
      </p:sp>
      <p:sp>
        <p:nvSpPr>
          <p:cNvPr id="10" name="通过资料与偏好复用持续贴合工作，不会自动训练模型">
            <a:extLst xmlns:a="http://schemas.openxmlformats.org/drawingml/2006/main">
              <a:ext uri="{FF2B5EF4-FFF2-40B4-BE49-F238E27FC236}">
                <a16:creationId xmlns:a16="http://schemas.microsoft.com/office/drawing/2014/main" id="{60020A22-07AD-4EC3-89D0-0DB4328F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57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通过资料与偏好复用持续贴合工作，不会自动训练模型</a:t>
            </a:r>
          </a:p>
        </p:txBody>
      </p:sp>
    </p:spTree>
    <p:extLst>
      <p:ext uri="{BB962C8B-B14F-4D97-AF65-F5344CB8AC3E}">
        <p14:creationId xmlns:p14="http://schemas.microsoft.com/office/powerpoint/2010/main" val="8796353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B6C5CF4D-5D59-479D-BBF0-03EC1AC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7A2655D-85FA-42A1-AFDF-72901819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3" name="本地运行，按需连接模型">
            <a:extLst xmlns:a="http://schemas.openxmlformats.org/drawingml/2006/main">
              <a:ext uri="{FF2B5EF4-FFF2-40B4-BE49-F238E27FC236}">
                <a16:creationId xmlns:a16="http://schemas.microsoft.com/office/drawing/2014/main" id="{452D320D-1CE9-4494-9B47-82EF50A6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本地运行，按需连接模型</a:t>
            </a:r>
          </a:p>
        </p:txBody>
      </p:sp>
      <p:sp>
        <p:nvSpPr>
          <p:cNvPr id="4" name="工作资料保存在本机">
            <a:extLst xmlns:a="http://schemas.openxmlformats.org/drawingml/2006/main">
              <a:ext uri="{FF2B5EF4-FFF2-40B4-BE49-F238E27FC236}">
                <a16:creationId xmlns:a16="http://schemas.microsoft.com/office/drawing/2014/main" id="{C5B4556B-7271-474E-831A-CC7740F5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5745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工作资料保存在本机</a:t>
            </a:r>
          </a:p>
        </p:txBody>
      </p:sp>
      <p:sp>
        <p:nvSpPr>
          <p:cNvPr id="5" name="患者档案、知识与案例&#10;围绕本地工作区积累">
            <a:extLst xmlns:a="http://schemas.openxmlformats.org/drawingml/2006/main">
              <a:ext uri="{FF2B5EF4-FFF2-40B4-BE49-F238E27FC236}">
                <a16:creationId xmlns:a16="http://schemas.microsoft.com/office/drawing/2014/main" id="{58569628-9B1B-49D3-910F-3D87F2B0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81325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患者档案、知识与案例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围绕本地工作区积累</a:t>
            </a:r>
          </a:p>
        </p:txBody>
      </p:sp>
      <p:sp>
        <p:nvSpPr>
          <p:cNvPr id="6" name="模型由使用者选择">
            <a:extLst xmlns:a="http://schemas.openxmlformats.org/drawingml/2006/main">
              <a:ext uri="{FF2B5EF4-FFF2-40B4-BE49-F238E27FC236}">
                <a16:creationId xmlns:a16="http://schemas.microsoft.com/office/drawing/2014/main" id="{F56686A4-B1B8-44A8-BE9F-1F8F5839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10050"/>
            <a:ext cx="6819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模型由使用者选择</a:t>
            </a:r>
          </a:p>
        </p:txBody>
      </p:sp>
      <p:sp>
        <p:nvSpPr>
          <p:cNvPr id="7" name="支持本地 Ollama，也可配置外部模型&#10;使用外">
            <a:extLst xmlns:a="http://schemas.openxmlformats.org/drawingml/2006/main">
              <a:ext uri="{FF2B5EF4-FFF2-40B4-BE49-F238E27FC236}">
                <a16:creationId xmlns:a16="http://schemas.microsoft.com/office/drawing/2014/main" id="{566B6B56-5B96-45CC-A608-787D3C3A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33925"/>
            <a:ext cx="6819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支持本地 Ollama，也可配置外部模型</a:t>
            </a:r>
          </a:p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使用外部模型时，相应内容会发送到该服务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16E12-4335-4C10-8BC3-C96F63C30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3d037cd354678"/>
          <a:srcRect xmlns:a="http://schemas.openxmlformats.org/drawingml/2006/main" l="35188" t="17300" r="23438" b="41900"/>
          <a:stretch xmlns:a="http://schemas.openxmlformats.org/drawingml/2006/main"/>
        </p:blipFill>
        <p:spPr>
          <a:xfrm xmlns:a="http://schemas.openxmlformats.org/drawingml/2006/main">
            <a:off x="7543800" y="2705100"/>
            <a:ext cx="3990975" cy="2457450"/>
          </a:xfrm>
          <a:prstGeom xmlns:a="http://schemas.openxmlformats.org/drawingml/2006/main" prst="rect">
            <a:avLst/>
          </a:prstGeom>
        </p:spPr>
      </p:pic>
      <p:sp>
        <p:nvSpPr>
          <p:cNvPr id="9" name="AI 输出由医生复核，辅助日常工作">
            <a:extLst xmlns:a="http://schemas.openxmlformats.org/drawingml/2006/main">
              <a:ext uri="{FF2B5EF4-FFF2-40B4-BE49-F238E27FC236}">
                <a16:creationId xmlns:a16="http://schemas.microsoft.com/office/drawing/2014/main" id="{62DAAEF4-FE06-45FC-A61E-58EF6CE7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5315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AI 输出由医生复核，辅助日常工作</a:t>
            </a:r>
          </a:p>
        </p:txBody>
      </p:sp>
    </p:spTree>
    <p:extLst>
      <p:ext uri="{BB962C8B-B14F-4D97-AF65-F5344CB8AC3E}">
        <p14:creationId xmlns:p14="http://schemas.microsoft.com/office/powerpoint/2010/main" val="1329477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320CA355-CD87-4870-BD90-6874B775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B6752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B35A4D69-C1FA-4391-AC41-87577FFF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3" name="一起共建的方向">
            <a:extLst xmlns:a="http://schemas.openxmlformats.org/drawingml/2006/main">
              <a:ext uri="{FF2B5EF4-FFF2-40B4-BE49-F238E27FC236}">
                <a16:creationId xmlns:a16="http://schemas.microsoft.com/office/drawing/2014/main" id="{0242798A-362E-4B9F-AEE4-8F8408DD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0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一起共建的方向</a:t>
            </a:r>
          </a:p>
        </p:txBody>
      </p:sp>
      <p:sp>
        <p:nvSpPr>
          <p:cNvPr id="4" name="欢迎带着一个真实问题、一段代码，或一次试用反馈加">
            <a:extLst xmlns:a="http://schemas.openxmlformats.org/drawingml/2006/main">
              <a:ext uri="{FF2B5EF4-FFF2-40B4-BE49-F238E27FC236}">
                <a16:creationId xmlns:a16="http://schemas.microsoft.com/office/drawing/2014/main" id="{C318E6FD-9D35-4829-8FAB-BDF8A0F4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04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欢迎带着一个真实问题、一段代码，或一次试用反馈加入</a:t>
            </a:r>
          </a:p>
        </p:txBody>
      </p:sp>
      <p:sp>
        <p:nvSpPr>
          <p:cNvPr id="5" name="医生与研究者">
            <a:extLst xmlns:a="http://schemas.openxmlformats.org/drawingml/2006/main">
              <a:ext uri="{FF2B5EF4-FFF2-40B4-BE49-F238E27FC236}">
                <a16:creationId xmlns:a16="http://schemas.microsoft.com/office/drawing/2014/main" id="{10CD19AB-3B88-4C14-B2FC-49B03BFD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336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医生与研究者</a:t>
            </a:r>
          </a:p>
        </p:txBody>
      </p:sp>
      <p:sp>
        <p:nvSpPr>
          <p:cNvPr id="6" name="提出高频场景，核对输出，完善去标识化示例">
            <a:extLst xmlns:a="http://schemas.openxmlformats.org/drawingml/2006/main">
              <a:ext uri="{FF2B5EF4-FFF2-40B4-BE49-F238E27FC236}">
                <a16:creationId xmlns:a16="http://schemas.microsoft.com/office/drawing/2014/main" id="{F16690E7-C2B0-4656-A14B-B89BA275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提出高频场景，核对输出，完善去标识化示例</a:t>
            </a:r>
          </a:p>
        </p:txBody>
      </p:sp>
      <p:sp>
        <p:nvSpPr>
          <p:cNvPr id="7" name="开发者">
            <a:extLst xmlns:a="http://schemas.openxmlformats.org/drawingml/2006/main">
              <a:ext uri="{FF2B5EF4-FFF2-40B4-BE49-F238E27FC236}">
                <a16:creationId xmlns:a16="http://schemas.microsoft.com/office/drawing/2014/main" id="{D61BA299-D3F2-462E-9C12-92A162E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909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开发者</a:t>
            </a:r>
          </a:p>
        </p:txBody>
      </p:sp>
      <p:sp>
        <p:nvSpPr>
          <p:cNvPr id="8" name="改进档案与随访，完善检索、记忆和模型接入">
            <a:extLst xmlns:a="http://schemas.openxmlformats.org/drawingml/2006/main">
              <a:ext uri="{FF2B5EF4-FFF2-40B4-BE49-F238E27FC236}">
                <a16:creationId xmlns:a16="http://schemas.microsoft.com/office/drawing/2014/main" id="{C455A123-6396-4C4D-B4A9-11E3504A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改进档案与随访，完善检索、记忆和模型接入</a:t>
            </a:r>
          </a:p>
        </p:txBody>
      </p:sp>
      <p:sp>
        <p:nvSpPr>
          <p:cNvPr id="9" name="产品与设计者">
            <a:extLst xmlns:a="http://schemas.openxmlformats.org/drawingml/2006/main">
              <a:ext uri="{FF2B5EF4-FFF2-40B4-BE49-F238E27FC236}">
                <a16:creationId xmlns:a16="http://schemas.microsoft.com/office/drawing/2014/main" id="{E01C51BE-909C-479F-9637-AAD6FD46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4815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产品与设计者</a:t>
            </a:r>
          </a:p>
        </p:txBody>
      </p:sp>
      <p:sp>
        <p:nvSpPr>
          <p:cNvPr id="10" name="让资料整理、复核与跟进更顺手">
            <a:extLst xmlns:a="http://schemas.openxmlformats.org/drawingml/2006/main">
              <a:ext uri="{FF2B5EF4-FFF2-40B4-BE49-F238E27FC236}">
                <a16:creationId xmlns:a16="http://schemas.microsoft.com/office/drawing/2014/main" id="{A16773F1-8C85-4EAE-8128-7BE58EAD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让资料整理、复核与跟进更顺手</a:t>
            </a:r>
          </a:p>
        </p:txBody>
      </p:sp>
      <p:sp>
        <p:nvSpPr>
          <p:cNvPr id="11" name="测试与文档贡献者">
            <a:extLst xmlns:a="http://schemas.openxmlformats.org/drawingml/2006/main">
              <a:ext uri="{FF2B5EF4-FFF2-40B4-BE49-F238E27FC236}">
                <a16:creationId xmlns:a16="http://schemas.microsoft.com/office/drawing/2014/main" id="{55DD7A7C-9ACB-42DF-AC84-3865AAF3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05400"/>
            <a:ext cx="3543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3D32"/>
                </a:solidFill>
                <a:latin typeface="Hiragino Sans GB"/>
                <a:ea typeface="Hiragino Sans GB"/>
                <a:cs typeface="Hiragino Sans GB"/>
              </a:rPr>
              <a:t>测试与文档贡献者</a:t>
            </a:r>
          </a:p>
        </p:txBody>
      </p:sp>
      <p:sp>
        <p:nvSpPr>
          <p:cNvPr id="12" name="复现问题，验证安装，补充上手教程">
            <a:extLst xmlns:a="http://schemas.openxmlformats.org/drawingml/2006/main">
              <a:ext uri="{FF2B5EF4-FFF2-40B4-BE49-F238E27FC236}">
                <a16:creationId xmlns:a16="http://schemas.microsoft.com/office/drawing/2014/main" id="{B4B5293B-986E-46B9-97DC-9606590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24450"/>
            <a:ext cx="741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66A"/>
                </a:solidFill>
                <a:latin typeface="Hiragino Sans GB"/>
                <a:ea typeface="Hiragino Sans GB"/>
                <a:cs typeface="Hiragino Sans GB"/>
              </a:rPr>
              <a:t>复现问题，验证安装，补充上手教程</a:t>
            </a:r>
          </a:p>
        </p:txBody>
      </p:sp>
    </p:spTree>
    <p:extLst>
      <p:ext uri="{BB962C8B-B14F-4D97-AF65-F5344CB8AC3E}">
        <p14:creationId xmlns:p14="http://schemas.microsoft.com/office/powerpoint/2010/main" val="13825273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pen Medical">
            <a:extLst xmlns:a="http://schemas.openxmlformats.org/drawingml/2006/main">
              <a:ext uri="{FF2B5EF4-FFF2-40B4-BE49-F238E27FC236}">
                <a16:creationId xmlns:a16="http://schemas.microsoft.com/office/drawing/2014/main" id="{9B5C6A9D-EECF-4914-A863-932576CC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Open Medical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54C49964-CC10-4F88-82BD-DAAF7080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52425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3" name="一起把它做成">
            <a:extLst xmlns:a="http://schemas.openxmlformats.org/drawingml/2006/main">
              <a:ext uri="{FF2B5EF4-FFF2-40B4-BE49-F238E27FC236}">
                <a16:creationId xmlns:a16="http://schemas.microsoft.com/office/drawing/2014/main" id="{C3528B54-6749-4992-949F-AD221ABE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66825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4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一起把它做成</a:t>
            </a:r>
          </a:p>
        </p:txBody>
      </p:sp>
      <p:sp>
        <p:nvSpPr>
          <p:cNvPr id="4" name="医生愿意每天用的小助手">
            <a:extLst xmlns:a="http://schemas.openxmlformats.org/drawingml/2006/main">
              <a:ext uri="{FF2B5EF4-FFF2-40B4-BE49-F238E27FC236}">
                <a16:creationId xmlns:a16="http://schemas.microsoft.com/office/drawing/2014/main" id="{CF94D624-F2D9-427E-887E-B8A540BE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100" b="1">
                <a:solidFill>
                  <a:srgbClr val="BBD1AC"/>
                </a:solidFill>
                <a:latin typeface="Hiragino Sans GB"/>
                <a:ea typeface="Hiragino Sans GB"/>
                <a:cs typeface="Hiragino Sans GB"/>
              </a:rPr>
              <a:t>医生愿意每天用的小助手</a:t>
            </a:r>
          </a:p>
        </p:txBody>
      </p:sp>
      <p:sp>
        <p:nvSpPr>
          <p:cNvPr id="5" name="从一个具体问题开始，在 GitHub 留下 Is">
            <a:extLst xmlns:a="http://schemas.openxmlformats.org/drawingml/2006/main">
              <a:ext uri="{FF2B5EF4-FFF2-40B4-BE49-F238E27FC236}">
                <a16:creationId xmlns:a16="http://schemas.microsoft.com/office/drawing/2014/main" id="{283B696F-6D4A-4855-AA4F-8595BDD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从一个具体问题开始，在 GitHub 留下 Issue 或提交 PR</a:t>
            </a:r>
          </a:p>
        </p:txBody>
      </p:sp>
      <p:sp>
        <p:nvSpPr>
          <p:cNvPr id="6" name="github.com/JuneYaooo/&#10;op">
            <a:extLst xmlns:a="http://schemas.openxmlformats.org/drawingml/2006/main">
              <a:ext uri="{FF2B5EF4-FFF2-40B4-BE49-F238E27FC236}">
                <a16:creationId xmlns:a16="http://schemas.microsoft.com/office/drawing/2014/main" id="{D56874F0-3201-4B5E-A81F-2417926F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68c8a9a0d71478d"/>
              </a:rPr>
              <a:t>github.com/JuneYaooo/</a:t>
            </a:r>
          </a:p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f77beee8f9340b5"/>
              </a:rPr>
              <a:t>open-medical-workbench</a:t>
            </a:r>
          </a:p>
        </p:txBody>
      </p:sp>
      <p:sp>
        <p:nvSpPr>
          <p:cNvPr id="7" name="MIT 开源">
            <a:extLst xmlns:a="http://schemas.openxmlformats.org/drawingml/2006/main">
              <a:ext uri="{FF2B5EF4-FFF2-40B4-BE49-F238E27FC236}">
                <a16:creationId xmlns:a16="http://schemas.microsoft.com/office/drawing/2014/main" id="{940760E4-6C5C-41AC-A98E-A68FE736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57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DCE7D9"/>
                </a:solidFill>
                <a:latin typeface="Hiragino Sans GB"/>
                <a:ea typeface="Hiragino Sans GB"/>
                <a:cs typeface="Hiragino Sans GB"/>
              </a:rPr>
              <a:t>MIT 开源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68710-6B0D-440C-AFE7-DC7E20706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45b266fc94472"/>
          <a:stretch xmlns:a="http://schemas.openxmlformats.org/drawingml/2006/main"/>
        </p:blipFill>
        <p:spPr>
          <a:xfrm xmlns:a="http://schemas.openxmlformats.org/drawingml/2006/main">
            <a:off x="9734550" y="4667250"/>
            <a:ext cx="1657350" cy="1657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25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2026-10-13T11:33:03.8540000Z</dcterms:created>
  <dcterms:modified xsi:type="dcterms:W3CDTF">2026-10-13T11:33:03.8540000Z</dcterms:modified>
</coreProperties>
</file>